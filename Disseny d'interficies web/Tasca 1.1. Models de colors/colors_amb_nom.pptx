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 COLOR · HTML I CSS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16002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colors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nom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colors que pots escriure —i buscar— pel seu nom, en comptes d’un codi.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4572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8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474116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6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4910328"/>
            <a:ext cx="100584" cy="100584"/>
          </a:xfrm>
          <a:prstGeom prst="line">
            <a:avLst/>
          </a:prstGeom>
          <a:noFill/>
          <a:ln w="19050">
            <a:solidFill>
              <a:srgbClr val="6A6A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43584" y="45720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26864" y="4690872"/>
            <a:ext cx="338328" cy="338328"/>
          </a:xfrm>
          <a:prstGeom prst="roundRect">
            <a:avLst>
              <a:gd name="adj" fmla="val 13514"/>
            </a:avLst>
          </a:prstGeom>
          <a:solidFill>
            <a:srgbClr val="DC143C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035040"/>
            <a:ext cx="889123" cy="82296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1" name="Shape 9"/>
          <p:cNvSpPr/>
          <p:nvPr/>
        </p:nvSpPr>
        <p:spPr>
          <a:xfrm>
            <a:off x="870835" y="6035040"/>
            <a:ext cx="889123" cy="82296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12" name="Shape 10"/>
          <p:cNvSpPr/>
          <p:nvPr/>
        </p:nvSpPr>
        <p:spPr>
          <a:xfrm>
            <a:off x="1741671" y="6035040"/>
            <a:ext cx="889123" cy="82296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612506" y="6035040"/>
            <a:ext cx="889123" cy="8229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483341" y="6035040"/>
            <a:ext cx="889123" cy="82296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54177" y="6035040"/>
            <a:ext cx="889123" cy="822960"/>
          </a:xfrm>
          <a:prstGeom prst="rect">
            <a:avLst/>
          </a:prstGeom>
          <a:solidFill>
            <a:srgbClr val="7FFF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225012" y="6035040"/>
            <a:ext cx="889123" cy="82296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6035040"/>
            <a:ext cx="889123" cy="822960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66683" y="6035040"/>
            <a:ext cx="889123" cy="82296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837518" y="6035040"/>
            <a:ext cx="889123" cy="822960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20" name="Shape 18"/>
          <p:cNvSpPr/>
          <p:nvPr/>
        </p:nvSpPr>
        <p:spPr>
          <a:xfrm>
            <a:off x="8708354" y="6035040"/>
            <a:ext cx="889123" cy="82296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21" name="Shape 19"/>
          <p:cNvSpPr/>
          <p:nvPr/>
        </p:nvSpPr>
        <p:spPr>
          <a:xfrm>
            <a:off x="9579189" y="6035040"/>
            <a:ext cx="889123" cy="822960"/>
          </a:xfrm>
          <a:prstGeom prst="rect">
            <a:avLst/>
          </a:prstGeom>
          <a:solidFill>
            <a:srgbClr val="663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50024" y="6035040"/>
            <a:ext cx="889123" cy="822960"/>
          </a:xfrm>
          <a:prstGeom prst="rect">
            <a:avLst/>
          </a:prstGeom>
          <a:solidFill>
            <a:srgbClr val="DA70D6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20860" y="6035040"/>
            <a:ext cx="889123" cy="822960"/>
          </a:xfrm>
          <a:prstGeom prst="rect">
            <a:avLst/>
          </a:prstGeom>
          <a:solidFill>
            <a:srgbClr val="FF69B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Què són els colors amb nom?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Són paraules clau que representen un color concret.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4144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lloc d’escriure un codi com #DC143C, escrius simplement el nom del color: crimson. El navegador ja sap a quin to correspon.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0156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Funcionen a HTML i CSS — i també al cercador de Google, que reconeix aquests noms i et mostra la mostra i el codi.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903720" y="1783080"/>
            <a:ext cx="4736592" cy="4160520"/>
          </a:xfrm>
          <a:prstGeom prst="roundRect">
            <a:avLst>
              <a:gd name="adj" fmla="val 2198"/>
            </a:avLst>
          </a:prstGeom>
          <a:solidFill>
            <a:srgbClr val="23232B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21488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crimson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555480" y="214884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149840" y="2167128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DC143C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0" y="30815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555480" y="30815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149840" y="3099816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00808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0" y="40142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555480" y="401421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49840" y="4032504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FFD70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49469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dodgerblue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555480" y="494690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49840" y="49651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1E90FF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MICA D’HISTÒRIA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D’on venen aquests colors?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9584" cy="3657600"/>
          </a:xfrm>
          <a:prstGeom prst="roundRect">
            <a:avLst>
              <a:gd name="adj" fmla="val 2591"/>
            </a:avLst>
          </a:prstGeom>
          <a:solidFill>
            <a:srgbClr val="23232B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50008"/>
            <a:ext cx="914400" cy="914400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50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bàsics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31920"/>
            <a:ext cx="2798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16 colors originals venen de l’estàndard de vídeo VGA i de l’HTML 4.01: red, blue, lime, aqua…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1965960"/>
            <a:ext cx="3529584" cy="3657600"/>
          </a:xfrm>
          <a:prstGeom prst="roundRect">
            <a:avLst>
              <a:gd name="adj" fmla="val 2591"/>
            </a:avLst>
          </a:prstGeom>
          <a:solidFill>
            <a:srgbClr val="23232B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350008"/>
            <a:ext cx="914400" cy="91440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0872" y="2350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347472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 ampliació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931920"/>
            <a:ext cx="2798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resta prové del joc de colors X11 dels sistemes Unix, amb noms descriptius per a cada 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01584" y="1965960"/>
            <a:ext cx="3529584" cy="3657600"/>
          </a:xfrm>
          <a:prstGeom prst="roundRect">
            <a:avLst>
              <a:gd name="adj" fmla="val 2591"/>
            </a:avLst>
          </a:prstGeom>
          <a:solidFill>
            <a:srgbClr val="23232B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2350008"/>
            <a:ext cx="914400" cy="914400"/>
          </a:xfrm>
          <a:prstGeom prst="ellipse">
            <a:avLst/>
          </a:prstGeom>
          <a:solidFill>
            <a:srgbClr val="66CD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67344" y="2350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67344" y="347472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Estandarditzats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67344" y="3931920"/>
            <a:ext cx="2798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els va recollir i normalitzar. Avui qualsevol navegador modern els entén tots.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EXACTE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Quants n’hi ha?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23232B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45720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41448"/>
            <a:ext cx="2798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41071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bàsics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033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4.01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23232B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2286000"/>
            <a:ext cx="457200" cy="128016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0872" y="2441448"/>
            <a:ext cx="2798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341071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diferents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37033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especificació CSS3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23232B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3064" y="2286000"/>
            <a:ext cx="457200" cy="128016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67344" y="2441448"/>
            <a:ext cx="2798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147–148</a:t>
            </a:r>
            <a:endParaRPr lang="en-US" sz="5200" dirty="0"/>
          </a:p>
        </p:txBody>
      </p:sp>
      <p:sp>
        <p:nvSpPr>
          <p:cNvPr id="17" name="Text 15"/>
          <p:cNvSpPr txBox="1"/>
          <p:nvPr/>
        </p:nvSpPr>
        <p:spPr>
          <a:xfrm>
            <a:off x="8513064" y="341071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sinònims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13064" y="37033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Color Level 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2C2C36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709160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el “144”?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una aproximació d’aquesta mateixa llista. La xifra balla segons si es compten els sinònims: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6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 = cyan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7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fuchsia = magenta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8B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 = grey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és el mateix color amb dos noms.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NUCLI FONAMENTAL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16 colors bàsics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6654" y="196596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00FFFF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5214" y="329184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5214" y="35021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#00FFFF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43113" y="196596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00000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51673" y="329184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951673" y="35021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29572" y="196596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0000FF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8132" y="329184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338132" y="35021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#0000FF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816031" y="196596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F00FF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24591" y="329184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fuchsia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724591" y="35021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#FF00FF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202490" y="196596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80808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11050" y="329184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111050" y="35021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#808080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588949" y="196596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00800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7509" y="329184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497509" y="35021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#008000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975408" y="196596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00FF0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83968" y="329184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883968" y="35021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#00FF00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0361867" y="196596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80000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70427" y="329184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270427" y="35021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#800000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6654" y="411480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00008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5214" y="544068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5214" y="56509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#000080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043113" y="411480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80800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51673" y="544068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951673" y="56509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#808000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429572" y="411480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80008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38132" y="544068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338132" y="56509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#800080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16031" y="411480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F000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24591" y="544068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724591" y="56509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#FF0000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202490" y="411480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C0C0C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11050" y="544068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111050" y="56509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#C0C0C0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588949" y="411480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00808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97509" y="544068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497509" y="56509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#008080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975408" y="411480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883968" y="544068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883968" y="56509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0361867" y="4114800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FFF0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270427" y="5440680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10270427" y="56509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#FFFF00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PANORÀMICA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Organitzats per famílies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83502" y="192024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74942" y="2331720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DC143C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942" y="3054096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F000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4942" y="3776472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B22222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942" y="4498848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CD5C5C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4942" y="5221224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0808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9961" y="192024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Taronges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61401" y="2331720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FA50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1401" y="3054096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F8C0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1401" y="3776472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F7F5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61401" y="4498848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F6347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1401" y="5221224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A8072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56420" y="192024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47860" y="2331720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FD70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47860" y="3054096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FFF0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7860" y="3776472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0E68C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47860" y="4498848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FE4B5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47860" y="5221224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FFFACD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2879" y="192024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34319" y="2331720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00800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4319" y="3054096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228B22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34319" y="3776472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32CD32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34319" y="4498848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2E8B57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34319" y="5221224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6B8E23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29338" y="192024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20778" y="2331720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00008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0778" y="3054096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0000FF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20778" y="3776472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20778" y="4498848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87CEEB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20778" y="5221224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00808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15797" y="192024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Púrpures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607237" y="2331720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4B0082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07237" y="3054096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80008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07237" y="3776472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663399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07237" y="4498848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BA55D3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07237" y="5221224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EE82EE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902256" y="192024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Marrons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993696" y="2331720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A52A2A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93696" y="3054096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A0522D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93696" y="3776472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D2691E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93696" y="4498848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CD853F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93696" y="5221224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D2B48C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88715" y="192024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Grisos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10380155" y="2331720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00000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80155" y="3054096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696969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80155" y="3776472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80808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80155" y="4498848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C0C0C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80155" y="5221224"/>
            <a:ext cx="1133856" cy="603504"/>
          </a:xfrm>
          <a:prstGeom prst="roundRect">
            <a:avLst>
              <a:gd name="adj" fmla="val 7576"/>
            </a:avLst>
          </a:prstGeom>
          <a:solidFill>
            <a:srgbClr val="DCDCDC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CURIOSITATS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 per a tots els gustos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4286" y="192024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FFEFD5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2846" y="30449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papayawhip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72846" y="3255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#FFEFD5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12898" y="192024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FFEBCD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21458" y="30449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blanchedalmond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521458" y="3255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#FFEBCD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461510" y="192024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DCDCDC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0070" y="30449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gainsboro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370070" y="3255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#DCDCDC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310122" y="192024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FFFACD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8682" y="30449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lemonchiffon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18682" y="3255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#FFFACD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158734" y="192024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FFE4E1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67294" y="30449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mistyrose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67294" y="3255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#FFE4E1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007346" y="1920240"/>
            <a:ext cx="1417320" cy="1097280"/>
          </a:xfrm>
          <a:prstGeom prst="roundRect">
            <a:avLst>
              <a:gd name="adj" fmla="val 5000"/>
            </a:avLst>
          </a:prstGeom>
          <a:solidFill>
            <a:srgbClr val="66CDAA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15906" y="30449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mediumaquamarine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915906" y="3255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#66CDAA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23232B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343400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663399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48840" y="42976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8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rebeccapurple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148840" y="4690872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Afegit a CSS el 2014 en memòria de la Rebecca Meyer, filla del pioner del web Eric Meyer. Demostra que fins i tot un estàndard tècnic pot tenir un gest humà. El seu codi és #663399.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PRÀCTICA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 fan servir?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532120" cy="3840480"/>
          </a:xfrm>
          <a:prstGeom prst="roundRect">
            <a:avLst>
              <a:gd name="adj" fmla="val 2381"/>
            </a:avLst>
          </a:prstGeom>
          <a:solidFill>
            <a:srgbClr val="1B1B21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1284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221284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221284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20240" y="2121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estil.css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7889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</a:t>
            </a:r>
            <a:pPr indent="0" marL="0">
              <a:buNone/>
            </a:pPr>
            <a:r>
              <a:rPr lang="en-US" sz="1600" dirty="0">
                <a:solidFill>
                  <a:srgbClr val="F0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crimson</a:t>
            </a:r>
            <a:pPr indent="0" marL="0">
              <a:buNone/>
            </a:pPr>
            <a:r>
              <a:rPr lang="en-US" sz="16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4472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background: </a:t>
            </a:r>
            <a:pPr indent="0" marL="0">
              <a:buNone/>
            </a:pPr>
            <a:r>
              <a:rPr lang="en-US" sz="1600" dirty="0">
                <a:solidFill>
                  <a:srgbClr val="EDE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ivory</a:t>
            </a:r>
            <a:pPr indent="0" marL="0">
              <a:buNone/>
            </a:pPr>
            <a:r>
              <a:rPr lang="en-US" sz="16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056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 background: </a:t>
            </a:r>
            <a:pPr indent="0" marL="0">
              <a:buNone/>
            </a:pPr>
            <a:r>
              <a:rPr lang="en-US" sz="1600" dirty="0">
                <a:solidFill>
                  <a:srgbClr val="33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teal</a:t>
            </a:r>
            <a:pPr indent="0" marL="0">
              <a:buNone/>
            </a:pPr>
            <a:r>
              <a:rPr lang="en-US" sz="16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76402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 { color: </a:t>
            </a:r>
            <a:pPr indent="0" marL="0">
              <a:buNone/>
            </a:pPr>
            <a:r>
              <a:rPr lang="en-US" sz="1600" dirty="0">
                <a:solidFill>
                  <a:srgbClr val="5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dodgerblue</a:t>
            </a:r>
            <a:pPr indent="0" marL="0">
              <a:buNone/>
            </a:pPr>
            <a:r>
              <a:rPr lang="en-US" sz="16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92024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 busca’l directament a Google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46520" y="2423160"/>
            <a:ext cx="5193792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8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02552" y="259232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6A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76288" y="2761488"/>
            <a:ext cx="100584" cy="100584"/>
          </a:xfrm>
          <a:prstGeom prst="line">
            <a:avLst/>
          </a:prstGeom>
          <a:noFill/>
          <a:ln w="19050">
            <a:solidFill>
              <a:srgbClr val="6A6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0024" y="2423160"/>
            <a:ext cx="3867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color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55096" y="2542032"/>
            <a:ext cx="338328" cy="338328"/>
          </a:xfrm>
          <a:prstGeom prst="roundRect">
            <a:avLst>
              <a:gd name="adj" fmla="val 13514"/>
            </a:avLst>
          </a:prstGeom>
          <a:solidFill>
            <a:srgbClr val="008080"/>
          </a:solidFill>
          <a:ln w="9525">
            <a:solidFill>
              <a:srgbClr val="D8D8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429000"/>
            <a:ext cx="5193792" cy="2331720"/>
          </a:xfrm>
          <a:prstGeom prst="roundRect">
            <a:avLst>
              <a:gd name="adj" fmla="val 3922"/>
            </a:avLst>
          </a:prstGeom>
          <a:solidFill>
            <a:srgbClr val="23232B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379476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008080"/>
          </a:solidFill>
          <a:ln w="9525">
            <a:solidFill>
              <a:srgbClr val="3A3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4343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 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#008080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0, 128, 128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7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HSL 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6C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180°, 100%, 25%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  vs  codis Hex / RGB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23232B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amb nom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2C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7947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Llegibles i fàcils de recordar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2519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Ideals per prototips i codi net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709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Limitats: només una paleta fixa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52578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DC143C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52578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00808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52578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D700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52578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1E90FF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52578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28B22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2C2C36"/>
          </a:solidFill>
          <a:ln w="12700">
            <a:solidFill>
              <a:srgbClr val="3A3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65392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/ RGB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16.777.216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37947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Qualsevol to imaginable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42519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Màxima precisió (256³ combinacions)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4709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C6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Menys llegibles: cal el codi exacte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565392" y="52578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34072" y="52578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457B9D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2752" y="52578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71432" y="52578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40112" y="525780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 w="6350">
            <a:solidFill>
              <a:srgbClr val="3A3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1417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idees per endur-te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C14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5880" y="259689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Són paraules que representen colors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9809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Escrius el nom (crimson) i el navegador sap el to exacte.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5478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D7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349300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trobes ≈140 (147–148 amb sinònims)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87705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“144” és una aproximació d’aquesta llista.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44398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2C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43891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Venen del VGA (16) i del joc X11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7731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Recollits i estandarditzats per CSS.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34009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90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52852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Còmodes però limitats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669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anar més enllà: Hex/RGB, amb 16,7 milions de tons.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889123" cy="41148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7" name="Shape 15"/>
          <p:cNvSpPr/>
          <p:nvPr/>
        </p:nvSpPr>
        <p:spPr>
          <a:xfrm>
            <a:off x="870835" y="6446520"/>
            <a:ext cx="889123" cy="41148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18" name="Shape 16"/>
          <p:cNvSpPr/>
          <p:nvPr/>
        </p:nvSpPr>
        <p:spPr>
          <a:xfrm>
            <a:off x="1741671" y="6446520"/>
            <a:ext cx="889123" cy="41148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612506" y="6446520"/>
            <a:ext cx="889123" cy="4114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Shape 18"/>
          <p:cNvSpPr/>
          <p:nvPr/>
        </p:nvSpPr>
        <p:spPr>
          <a:xfrm>
            <a:off x="3483341" y="6446520"/>
            <a:ext cx="889123" cy="41148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4177" y="6446520"/>
            <a:ext cx="889123" cy="411480"/>
          </a:xfrm>
          <a:prstGeom prst="rect">
            <a:avLst/>
          </a:prstGeom>
          <a:solidFill>
            <a:srgbClr val="7FFF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225012" y="6446520"/>
            <a:ext cx="889123" cy="41148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6446520"/>
            <a:ext cx="889123" cy="411480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966683" y="6446520"/>
            <a:ext cx="889123" cy="41148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837518" y="6446520"/>
            <a:ext cx="889123" cy="411480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26" name="Shape 24"/>
          <p:cNvSpPr/>
          <p:nvPr/>
        </p:nvSpPr>
        <p:spPr>
          <a:xfrm>
            <a:off x="8708354" y="6446520"/>
            <a:ext cx="889123" cy="41148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27" name="Shape 25"/>
          <p:cNvSpPr/>
          <p:nvPr/>
        </p:nvSpPr>
        <p:spPr>
          <a:xfrm>
            <a:off x="9579189" y="6446520"/>
            <a:ext cx="889123" cy="411480"/>
          </a:xfrm>
          <a:prstGeom prst="rect">
            <a:avLst/>
          </a:prstGeom>
          <a:solidFill>
            <a:srgbClr val="663399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50024" y="6446520"/>
            <a:ext cx="889123" cy="411480"/>
          </a:xfrm>
          <a:prstGeom prst="rect">
            <a:avLst/>
          </a:prstGeom>
          <a:solidFill>
            <a:srgbClr val="DA70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320860" y="6446520"/>
            <a:ext cx="889123" cy="411480"/>
          </a:xfrm>
          <a:prstGeom prst="rect">
            <a:avLst/>
          </a:prstGeom>
          <a:solidFill>
            <a:srgbClr val="FF69B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2026-09-17T14:06:18Z</dcterms:created>
  <dcterms:modified xsi:type="dcterms:W3CDTF">2026-09-17T14:06:18Z</dcterms:modified>
</cp:coreProperties>
</file>