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5143500" cx="9144000"/>
  <p:notesSz cx="6858000" cy="9144000"/>
  <p:embeddedFontLst>
    <p:embeddedFont>
      <p:font typeface="Average"/>
      <p:regular r:id="rId19"/>
    </p:embeddedFont>
    <p:embeddedFont>
      <p:font typeface="Oswald"/>
      <p:regular r:id="rId20"/>
      <p:bold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swald-regular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21" Type="http://schemas.openxmlformats.org/officeDocument/2006/relationships/font" Target="fonts/Oswald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font" Target="fonts/Average-regular.fntdata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fb895ce9d3_2_62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g3fb895ce9d3_2_62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g3fb895ce9d3_2_62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fb895ce9d3_2_87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g3fb895ce9d3_2_87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g3fb895ce9d3_2_87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fb895ce9d3_2_111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g3fb895ce9d3_2_111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g3fb895ce9d3_2_111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fb895ce9d3_2_282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g3fb895ce9d3_2_282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g3fb895ce9d3_2_282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fb895ce9d3_2_375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g3fb895ce9d3_2_375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g3fb895ce9d3_2_375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fb88db817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fb88db817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fb88db817a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fb88db817a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fb88db817a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fb88db817a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fb88db817a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fb88db817a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fb88db817a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fb88db817a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fb88db817a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fb88db817a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4350279" y="2855377"/>
            <a:ext cx="443589" cy="105632"/>
            <a:chOff x="4137525" y="2915950"/>
            <a:chExt cx="869100" cy="207000"/>
          </a:xfrm>
        </p:grpSpPr>
        <p:sp>
          <p:nvSpPr>
            <p:cNvPr id="11" name="Google Shape;11;p2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55275"/>
            <a:ext cx="8520600" cy="189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lat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lvl="1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lvl="2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lvl="3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lvl="4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lvl="5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lvl="6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lvl="7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lvl="8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7171C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NAME</a:t>
            </a:r>
            <a:endParaRPr/>
          </a:p>
        </p:txBody>
      </p:sp>
      <p:sp>
        <p:nvSpPr>
          <p:cNvPr id="62" name="Google Shape;62;p15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Óscar Benítez i Esteve Amargant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7171C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6"/>
          <p:cNvSpPr txBox="1"/>
          <p:nvPr/>
        </p:nvSpPr>
        <p:spPr>
          <a:xfrm>
            <a:off x="411480" y="342900"/>
            <a:ext cx="83187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8E9A"/>
              </a:buClr>
              <a:buSzPts val="900"/>
              <a:buFont typeface="Calibri"/>
              <a:buNone/>
            </a:pPr>
            <a:r>
              <a:rPr b="1" i="0" lang="ca" sz="900" u="none" cap="none" strike="noStrike">
                <a:solidFill>
                  <a:srgbClr val="8E8E9A"/>
                </a:solidFill>
                <a:latin typeface="Calibri"/>
                <a:ea typeface="Calibri"/>
                <a:cs typeface="Calibri"/>
                <a:sym typeface="Calibri"/>
              </a:rPr>
              <a:t>EL CONCEPTE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16"/>
          <p:cNvSpPr txBox="1"/>
          <p:nvPr/>
        </p:nvSpPr>
        <p:spPr>
          <a:xfrm>
            <a:off x="411480" y="548640"/>
            <a:ext cx="83187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ca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Què són els colors amb nom?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16"/>
          <p:cNvSpPr txBox="1"/>
          <p:nvPr/>
        </p:nvSpPr>
        <p:spPr>
          <a:xfrm>
            <a:off x="411480" y="1405890"/>
            <a:ext cx="4389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ca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Són paraules clau que representen un color concret.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16"/>
          <p:cNvSpPr txBox="1"/>
          <p:nvPr/>
        </p:nvSpPr>
        <p:spPr>
          <a:xfrm>
            <a:off x="411480" y="1831086"/>
            <a:ext cx="4389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C6C6CF"/>
              </a:buClr>
              <a:buSzPts val="1200"/>
              <a:buFont typeface="Calibri"/>
              <a:buNone/>
            </a:pPr>
            <a:r>
              <a:rPr b="0" i="0" lang="ca" sz="1200" u="none" cap="none" strike="noStrike">
                <a:solidFill>
                  <a:srgbClr val="C6C6CF"/>
                </a:solidFill>
                <a:latin typeface="Calibri"/>
                <a:ea typeface="Calibri"/>
                <a:cs typeface="Calibri"/>
                <a:sym typeface="Calibri"/>
              </a:rPr>
              <a:t>En lloc d’escriure un codi com #DC143C, escrius simplement el nom del color: crimson. El navegador ja sap a quin to correspon.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16"/>
          <p:cNvSpPr txBox="1"/>
          <p:nvPr/>
        </p:nvSpPr>
        <p:spPr>
          <a:xfrm>
            <a:off x="411480" y="2551176"/>
            <a:ext cx="4389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C6C6CF"/>
              </a:buClr>
              <a:buSzPts val="1200"/>
              <a:buFont typeface="Calibri"/>
              <a:buNone/>
            </a:pPr>
            <a:r>
              <a:rPr b="0" i="0" lang="ca" sz="1200" u="none" cap="none" strike="noStrike">
                <a:solidFill>
                  <a:srgbClr val="C6C6CF"/>
                </a:solidFill>
                <a:latin typeface="Calibri"/>
                <a:ea typeface="Calibri"/>
                <a:cs typeface="Calibri"/>
                <a:sym typeface="Calibri"/>
              </a:rPr>
              <a:t>Funcionen a HTML i CSS — i també al cercador de Google, que reconeix aquests noms i et mostra la mostra i el codi.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6"/>
          <p:cNvSpPr/>
          <p:nvPr/>
        </p:nvSpPr>
        <p:spPr>
          <a:xfrm>
            <a:off x="5177790" y="1337310"/>
            <a:ext cx="3552600" cy="3120300"/>
          </a:xfrm>
          <a:prstGeom prst="roundRect">
            <a:avLst>
              <a:gd fmla="val 2198" name="adj"/>
            </a:avLst>
          </a:prstGeom>
          <a:solidFill>
            <a:srgbClr val="23232B"/>
          </a:solidFill>
          <a:ln cap="flat" cmpd="sng" w="9525">
            <a:solidFill>
              <a:srgbClr val="3A3A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6"/>
          <p:cNvSpPr txBox="1"/>
          <p:nvPr/>
        </p:nvSpPr>
        <p:spPr>
          <a:xfrm>
            <a:off x="5486400" y="1611630"/>
            <a:ext cx="17832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urier New"/>
              <a:buNone/>
            </a:pPr>
            <a:r>
              <a:rPr b="0" i="0" lang="ca" sz="14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crimson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6"/>
          <p:cNvSpPr txBox="1"/>
          <p:nvPr/>
        </p:nvSpPr>
        <p:spPr>
          <a:xfrm>
            <a:off x="7166610" y="1611630"/>
            <a:ext cx="3429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6E7A"/>
              </a:buClr>
              <a:buSzPts val="1400"/>
              <a:buFont typeface="Calibri"/>
              <a:buNone/>
            </a:pPr>
            <a:r>
              <a:rPr b="0" i="0" lang="ca" sz="1400" u="none" cap="none" strike="noStrike">
                <a:solidFill>
                  <a:srgbClr val="6E6E7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6"/>
          <p:cNvSpPr/>
          <p:nvPr/>
        </p:nvSpPr>
        <p:spPr>
          <a:xfrm>
            <a:off x="7612380" y="1625346"/>
            <a:ext cx="823200" cy="425100"/>
          </a:xfrm>
          <a:prstGeom prst="roundRect">
            <a:avLst>
              <a:gd fmla="val 9677" name="adj"/>
            </a:avLst>
          </a:prstGeom>
          <a:solidFill>
            <a:srgbClr val="DC143C"/>
          </a:solidFill>
          <a:ln cap="flat" cmpd="sng" w="7150">
            <a:solidFill>
              <a:srgbClr val="3A3A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6"/>
          <p:cNvSpPr txBox="1"/>
          <p:nvPr/>
        </p:nvSpPr>
        <p:spPr>
          <a:xfrm>
            <a:off x="5486400" y="2311146"/>
            <a:ext cx="17832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urier New"/>
              <a:buNone/>
            </a:pPr>
            <a:r>
              <a:rPr b="0" i="0" lang="ca" sz="14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teal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16"/>
          <p:cNvSpPr txBox="1"/>
          <p:nvPr/>
        </p:nvSpPr>
        <p:spPr>
          <a:xfrm>
            <a:off x="7166610" y="2311146"/>
            <a:ext cx="3429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6E7A"/>
              </a:buClr>
              <a:buSzPts val="1400"/>
              <a:buFont typeface="Calibri"/>
              <a:buNone/>
            </a:pPr>
            <a:r>
              <a:rPr b="0" i="0" lang="ca" sz="1400" u="none" cap="none" strike="noStrike">
                <a:solidFill>
                  <a:srgbClr val="6E6E7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6"/>
          <p:cNvSpPr/>
          <p:nvPr/>
        </p:nvSpPr>
        <p:spPr>
          <a:xfrm>
            <a:off x="7612380" y="2324862"/>
            <a:ext cx="823200" cy="425100"/>
          </a:xfrm>
          <a:prstGeom prst="roundRect">
            <a:avLst>
              <a:gd fmla="val 9677" name="adj"/>
            </a:avLst>
          </a:prstGeom>
          <a:solidFill>
            <a:srgbClr val="008080"/>
          </a:solidFill>
          <a:ln cap="flat" cmpd="sng" w="7150">
            <a:solidFill>
              <a:srgbClr val="3A3A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6"/>
          <p:cNvSpPr txBox="1"/>
          <p:nvPr/>
        </p:nvSpPr>
        <p:spPr>
          <a:xfrm>
            <a:off x="5486400" y="3010662"/>
            <a:ext cx="17832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urier New"/>
              <a:buNone/>
            </a:pPr>
            <a:r>
              <a:rPr b="0" i="0" lang="ca" sz="14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gold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6"/>
          <p:cNvSpPr txBox="1"/>
          <p:nvPr/>
        </p:nvSpPr>
        <p:spPr>
          <a:xfrm>
            <a:off x="7166610" y="3010662"/>
            <a:ext cx="3429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6E7A"/>
              </a:buClr>
              <a:buSzPts val="1400"/>
              <a:buFont typeface="Calibri"/>
              <a:buNone/>
            </a:pPr>
            <a:r>
              <a:rPr b="0" i="0" lang="ca" sz="1400" u="none" cap="none" strike="noStrike">
                <a:solidFill>
                  <a:srgbClr val="6E6E7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6"/>
          <p:cNvSpPr/>
          <p:nvPr/>
        </p:nvSpPr>
        <p:spPr>
          <a:xfrm>
            <a:off x="7612380" y="3024378"/>
            <a:ext cx="823200" cy="425100"/>
          </a:xfrm>
          <a:prstGeom prst="roundRect">
            <a:avLst>
              <a:gd fmla="val 9677" name="adj"/>
            </a:avLst>
          </a:prstGeom>
          <a:solidFill>
            <a:srgbClr val="FFD700"/>
          </a:solidFill>
          <a:ln cap="flat" cmpd="sng" w="7150">
            <a:solidFill>
              <a:srgbClr val="3A3A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6"/>
          <p:cNvSpPr txBox="1"/>
          <p:nvPr/>
        </p:nvSpPr>
        <p:spPr>
          <a:xfrm>
            <a:off x="5486400" y="3710178"/>
            <a:ext cx="17832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urier New"/>
              <a:buNone/>
            </a:pPr>
            <a:r>
              <a:rPr b="0" i="0" lang="ca" sz="14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dodgerblue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6"/>
          <p:cNvSpPr txBox="1"/>
          <p:nvPr/>
        </p:nvSpPr>
        <p:spPr>
          <a:xfrm>
            <a:off x="7166610" y="3710178"/>
            <a:ext cx="3429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E6E7A"/>
              </a:buClr>
              <a:buSzPts val="1400"/>
              <a:buFont typeface="Calibri"/>
              <a:buNone/>
            </a:pPr>
            <a:r>
              <a:rPr b="0" i="0" lang="ca" sz="1400" u="none" cap="none" strike="noStrike">
                <a:solidFill>
                  <a:srgbClr val="6E6E7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6"/>
          <p:cNvSpPr/>
          <p:nvPr/>
        </p:nvSpPr>
        <p:spPr>
          <a:xfrm>
            <a:off x="7612380" y="3723894"/>
            <a:ext cx="823200" cy="425100"/>
          </a:xfrm>
          <a:prstGeom prst="roundRect">
            <a:avLst>
              <a:gd fmla="val 9677" name="adj"/>
            </a:avLst>
          </a:prstGeom>
          <a:solidFill>
            <a:srgbClr val="1E90FF"/>
          </a:solidFill>
          <a:ln cap="flat" cmpd="sng" w="7150">
            <a:solidFill>
              <a:srgbClr val="3A3A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6"/>
          <p:cNvSpPr txBox="1"/>
          <p:nvPr/>
        </p:nvSpPr>
        <p:spPr>
          <a:xfrm>
            <a:off x="8606790" y="4786884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5555F"/>
              </a:buClr>
              <a:buSzPts val="800"/>
              <a:buFont typeface="Courier New"/>
              <a:buNone/>
            </a:pPr>
            <a:r>
              <a:rPr b="0" i="0" lang="ca" sz="800" u="none" cap="none" strike="noStrike">
                <a:solidFill>
                  <a:srgbClr val="55555F"/>
                </a:solidFill>
                <a:latin typeface="Courier New"/>
                <a:ea typeface="Courier New"/>
                <a:cs typeface="Courier New"/>
                <a:sym typeface="Courier New"/>
              </a:rPr>
              <a:t>02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7171C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/>
          <p:nvPr/>
        </p:nvSpPr>
        <p:spPr>
          <a:xfrm>
            <a:off x="411480" y="342900"/>
            <a:ext cx="83187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8E9A"/>
              </a:buClr>
              <a:buSzPts val="900"/>
              <a:buFont typeface="Calibri"/>
              <a:buNone/>
            </a:pPr>
            <a:r>
              <a:rPr b="1" i="0" lang="ca" sz="900" u="none" cap="none" strike="noStrike">
                <a:solidFill>
                  <a:srgbClr val="8E8E9A"/>
                </a:solidFill>
                <a:latin typeface="Calibri"/>
                <a:ea typeface="Calibri"/>
                <a:cs typeface="Calibri"/>
                <a:sym typeface="Calibri"/>
              </a:rPr>
              <a:t>UNA MICA D’HISTÒRIA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7"/>
          <p:cNvSpPr txBox="1"/>
          <p:nvPr/>
        </p:nvSpPr>
        <p:spPr>
          <a:xfrm>
            <a:off x="411480" y="548640"/>
            <a:ext cx="83187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ca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D’on venen aquests colors?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7"/>
          <p:cNvSpPr/>
          <p:nvPr/>
        </p:nvSpPr>
        <p:spPr>
          <a:xfrm>
            <a:off x="411480" y="1474470"/>
            <a:ext cx="2647200" cy="2743200"/>
          </a:xfrm>
          <a:prstGeom prst="roundRect">
            <a:avLst>
              <a:gd fmla="val 2591" name="adj"/>
            </a:avLst>
          </a:prstGeom>
          <a:solidFill>
            <a:srgbClr val="23232B"/>
          </a:solidFill>
          <a:ln cap="flat" cmpd="sng" w="9525">
            <a:solidFill>
              <a:srgbClr val="3A3A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7"/>
          <p:cNvSpPr/>
          <p:nvPr/>
        </p:nvSpPr>
        <p:spPr>
          <a:xfrm>
            <a:off x="685800" y="1762506"/>
            <a:ext cx="685800" cy="685800"/>
          </a:xfrm>
          <a:prstGeom prst="ellipse">
            <a:avLst/>
          </a:prstGeom>
          <a:solidFill>
            <a:srgbClr val="DC143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7"/>
          <p:cNvSpPr txBox="1"/>
          <p:nvPr/>
        </p:nvSpPr>
        <p:spPr>
          <a:xfrm>
            <a:off x="685800" y="1762506"/>
            <a:ext cx="685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ca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7"/>
          <p:cNvSpPr txBox="1"/>
          <p:nvPr/>
        </p:nvSpPr>
        <p:spPr>
          <a:xfrm>
            <a:off x="685800" y="2606040"/>
            <a:ext cx="20985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ca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Colors bàsics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7"/>
          <p:cNvSpPr txBox="1"/>
          <p:nvPr/>
        </p:nvSpPr>
        <p:spPr>
          <a:xfrm>
            <a:off x="685800" y="2948940"/>
            <a:ext cx="20985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C6C6CF"/>
              </a:buClr>
              <a:buSzPts val="1100"/>
              <a:buFont typeface="Calibri"/>
              <a:buNone/>
            </a:pPr>
            <a:r>
              <a:rPr b="0" i="0" lang="ca" sz="1100" u="none" cap="none" strike="noStrike">
                <a:solidFill>
                  <a:srgbClr val="C6C6CF"/>
                </a:solidFill>
                <a:latin typeface="Calibri"/>
                <a:ea typeface="Calibri"/>
                <a:cs typeface="Calibri"/>
                <a:sym typeface="Calibri"/>
              </a:rPr>
              <a:t>Els 16 colors originals venen de l’estàndard de vídeo VGA i de l’HTML 4.01: red, blue, lime, aqua…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7"/>
          <p:cNvSpPr/>
          <p:nvPr/>
        </p:nvSpPr>
        <p:spPr>
          <a:xfrm>
            <a:off x="3243834" y="1474470"/>
            <a:ext cx="2647200" cy="2743200"/>
          </a:xfrm>
          <a:prstGeom prst="roundRect">
            <a:avLst>
              <a:gd fmla="val 2591" name="adj"/>
            </a:avLst>
          </a:prstGeom>
          <a:solidFill>
            <a:srgbClr val="23232B"/>
          </a:solidFill>
          <a:ln cap="flat" cmpd="sng" w="9525">
            <a:solidFill>
              <a:srgbClr val="3A3A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7"/>
          <p:cNvSpPr/>
          <p:nvPr/>
        </p:nvSpPr>
        <p:spPr>
          <a:xfrm>
            <a:off x="3518154" y="1762506"/>
            <a:ext cx="685800" cy="685800"/>
          </a:xfrm>
          <a:prstGeom prst="ellipse">
            <a:avLst/>
          </a:prstGeom>
          <a:solidFill>
            <a:srgbClr val="1E90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7"/>
          <p:cNvSpPr txBox="1"/>
          <p:nvPr/>
        </p:nvSpPr>
        <p:spPr>
          <a:xfrm>
            <a:off x="3518154" y="1762506"/>
            <a:ext cx="685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ca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X11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7"/>
          <p:cNvSpPr txBox="1"/>
          <p:nvPr/>
        </p:nvSpPr>
        <p:spPr>
          <a:xfrm>
            <a:off x="3518154" y="2606040"/>
            <a:ext cx="20985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ca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1" i="0" lang="ca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mpliació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7"/>
          <p:cNvSpPr txBox="1"/>
          <p:nvPr/>
        </p:nvSpPr>
        <p:spPr>
          <a:xfrm>
            <a:off x="3518154" y="2948940"/>
            <a:ext cx="20985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C6C6CF"/>
              </a:buClr>
              <a:buSzPts val="1100"/>
              <a:buFont typeface="Calibri"/>
              <a:buNone/>
            </a:pPr>
            <a:r>
              <a:rPr b="0" i="0" lang="ca" sz="1100" u="none" cap="none" strike="noStrike">
                <a:solidFill>
                  <a:srgbClr val="C6C6CF"/>
                </a:solidFill>
                <a:latin typeface="Calibri"/>
                <a:ea typeface="Calibri"/>
                <a:cs typeface="Calibri"/>
                <a:sym typeface="Calibri"/>
              </a:rPr>
              <a:t>La resta prové del joc de colors X11 dels sistemes Unix, amb noms descriptius per a cada to.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7"/>
          <p:cNvSpPr/>
          <p:nvPr/>
        </p:nvSpPr>
        <p:spPr>
          <a:xfrm>
            <a:off x="6076188" y="1474470"/>
            <a:ext cx="2647200" cy="2743200"/>
          </a:xfrm>
          <a:prstGeom prst="roundRect">
            <a:avLst>
              <a:gd fmla="val 2591" name="adj"/>
            </a:avLst>
          </a:prstGeom>
          <a:solidFill>
            <a:srgbClr val="23232B"/>
          </a:solidFill>
          <a:ln cap="flat" cmpd="sng" w="9525">
            <a:solidFill>
              <a:srgbClr val="3A3A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7"/>
          <p:cNvSpPr/>
          <p:nvPr/>
        </p:nvSpPr>
        <p:spPr>
          <a:xfrm>
            <a:off x="6350508" y="1762506"/>
            <a:ext cx="685800" cy="685800"/>
          </a:xfrm>
          <a:prstGeom prst="ellipse">
            <a:avLst/>
          </a:prstGeom>
          <a:solidFill>
            <a:srgbClr val="66CDAA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7"/>
          <p:cNvSpPr txBox="1"/>
          <p:nvPr/>
        </p:nvSpPr>
        <p:spPr>
          <a:xfrm>
            <a:off x="6350508" y="1762506"/>
            <a:ext cx="685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ca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CSS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7"/>
          <p:cNvSpPr txBox="1"/>
          <p:nvPr/>
        </p:nvSpPr>
        <p:spPr>
          <a:xfrm>
            <a:off x="6350508" y="2606040"/>
            <a:ext cx="20985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ca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Estandarditzats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7"/>
          <p:cNvSpPr txBox="1"/>
          <p:nvPr/>
        </p:nvSpPr>
        <p:spPr>
          <a:xfrm>
            <a:off x="6350508" y="2948940"/>
            <a:ext cx="20985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C6C6CF"/>
              </a:buClr>
              <a:buSzPts val="1100"/>
              <a:buFont typeface="Calibri"/>
              <a:buNone/>
            </a:pPr>
            <a:r>
              <a:rPr b="0" i="0" lang="ca" sz="1100" u="none" cap="none" strike="noStrike">
                <a:solidFill>
                  <a:srgbClr val="C6C6CF"/>
                </a:solidFill>
                <a:latin typeface="Calibri"/>
                <a:ea typeface="Calibri"/>
                <a:cs typeface="Calibri"/>
                <a:sym typeface="Calibri"/>
              </a:rPr>
              <a:t>CSS els va recollir i normalitzar. Avui qualsevol navegador modern els entén tots.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7"/>
          <p:cNvSpPr txBox="1"/>
          <p:nvPr/>
        </p:nvSpPr>
        <p:spPr>
          <a:xfrm>
            <a:off x="8606790" y="4786884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5555F"/>
              </a:buClr>
              <a:buSzPts val="800"/>
              <a:buFont typeface="Courier New"/>
              <a:buNone/>
            </a:pPr>
            <a:r>
              <a:rPr b="0" i="0" lang="ca" sz="800" u="none" cap="none" strike="noStrike">
                <a:solidFill>
                  <a:srgbClr val="55555F"/>
                </a:solidFill>
                <a:latin typeface="Courier New"/>
                <a:ea typeface="Courier New"/>
                <a:cs typeface="Courier New"/>
                <a:sym typeface="Courier New"/>
              </a:rPr>
              <a:t>03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7171C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8"/>
          <p:cNvSpPr txBox="1"/>
          <p:nvPr/>
        </p:nvSpPr>
        <p:spPr>
          <a:xfrm>
            <a:off x="411480" y="342900"/>
            <a:ext cx="83187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8E9A"/>
              </a:buClr>
              <a:buSzPts val="900"/>
              <a:buFont typeface="Calibri"/>
              <a:buNone/>
            </a:pPr>
            <a:r>
              <a:rPr b="1" i="0" lang="ca" sz="900" u="none" cap="none" strike="noStrike">
                <a:solidFill>
                  <a:srgbClr val="8E8E9A"/>
                </a:solidFill>
                <a:latin typeface="Calibri"/>
                <a:ea typeface="Calibri"/>
                <a:cs typeface="Calibri"/>
                <a:sym typeface="Calibri"/>
              </a:rPr>
              <a:t>EL NÚMERO EXACTE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8"/>
          <p:cNvSpPr txBox="1"/>
          <p:nvPr/>
        </p:nvSpPr>
        <p:spPr>
          <a:xfrm>
            <a:off x="411480" y="548640"/>
            <a:ext cx="83187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ca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Quants n’hi ha?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8"/>
          <p:cNvSpPr/>
          <p:nvPr/>
        </p:nvSpPr>
        <p:spPr>
          <a:xfrm>
            <a:off x="411480" y="1405890"/>
            <a:ext cx="2647200" cy="1748700"/>
          </a:xfrm>
          <a:prstGeom prst="roundRect">
            <a:avLst>
              <a:gd fmla="val 3922" name="adj"/>
            </a:avLst>
          </a:prstGeom>
          <a:solidFill>
            <a:srgbClr val="23232B"/>
          </a:solidFill>
          <a:ln cap="flat" cmpd="sng" w="9525">
            <a:solidFill>
              <a:srgbClr val="3A3A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8"/>
          <p:cNvSpPr/>
          <p:nvPr/>
        </p:nvSpPr>
        <p:spPr>
          <a:xfrm>
            <a:off x="720090" y="1714500"/>
            <a:ext cx="342900" cy="96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8"/>
          <p:cNvSpPr txBox="1"/>
          <p:nvPr/>
        </p:nvSpPr>
        <p:spPr>
          <a:xfrm>
            <a:off x="685800" y="1831086"/>
            <a:ext cx="20985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00"/>
              <a:buFont typeface="Calibri"/>
              <a:buNone/>
            </a:pPr>
            <a:r>
              <a:rPr b="1" i="0" lang="ca" sz="3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8"/>
          <p:cNvSpPr txBox="1"/>
          <p:nvPr/>
        </p:nvSpPr>
        <p:spPr>
          <a:xfrm>
            <a:off x="720090" y="2558034"/>
            <a:ext cx="20985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C6CF"/>
              </a:buClr>
              <a:buSzPts val="1100"/>
              <a:buFont typeface="Calibri"/>
              <a:buNone/>
            </a:pPr>
            <a:r>
              <a:rPr b="1" i="0" lang="ca" sz="1100" u="none" cap="none" strike="noStrike">
                <a:solidFill>
                  <a:srgbClr val="C6C6CF"/>
                </a:solidFill>
                <a:latin typeface="Calibri"/>
                <a:ea typeface="Calibri"/>
                <a:cs typeface="Calibri"/>
                <a:sym typeface="Calibri"/>
              </a:rPr>
              <a:t>colors bàsics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8"/>
          <p:cNvSpPr txBox="1"/>
          <p:nvPr/>
        </p:nvSpPr>
        <p:spPr>
          <a:xfrm>
            <a:off x="720090" y="2777490"/>
            <a:ext cx="20985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7E88"/>
              </a:buClr>
              <a:buSzPts val="800"/>
              <a:buFont typeface="Courier New"/>
              <a:buNone/>
            </a:pPr>
            <a:r>
              <a:rPr b="0" i="0" lang="ca" sz="800" u="none" cap="none" strike="noStrike">
                <a:solidFill>
                  <a:srgbClr val="7E7E88"/>
                </a:solidFill>
                <a:latin typeface="Courier New"/>
                <a:ea typeface="Courier New"/>
                <a:cs typeface="Courier New"/>
                <a:sym typeface="Courier New"/>
              </a:rPr>
              <a:t>HTML 4.01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8"/>
          <p:cNvSpPr/>
          <p:nvPr/>
        </p:nvSpPr>
        <p:spPr>
          <a:xfrm>
            <a:off x="3243834" y="1405890"/>
            <a:ext cx="2647200" cy="1748700"/>
          </a:xfrm>
          <a:prstGeom prst="roundRect">
            <a:avLst>
              <a:gd fmla="val 3922" name="adj"/>
            </a:avLst>
          </a:prstGeom>
          <a:solidFill>
            <a:srgbClr val="23232B"/>
          </a:solidFill>
          <a:ln cap="flat" cmpd="sng" w="9525">
            <a:solidFill>
              <a:srgbClr val="3A3A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8"/>
          <p:cNvSpPr/>
          <p:nvPr/>
        </p:nvSpPr>
        <p:spPr>
          <a:xfrm>
            <a:off x="3552444" y="1714500"/>
            <a:ext cx="342900" cy="96000"/>
          </a:xfrm>
          <a:prstGeom prst="rect">
            <a:avLst/>
          </a:prstGeom>
          <a:solidFill>
            <a:srgbClr val="32CD3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8"/>
          <p:cNvSpPr txBox="1"/>
          <p:nvPr/>
        </p:nvSpPr>
        <p:spPr>
          <a:xfrm>
            <a:off x="3518154" y="1831086"/>
            <a:ext cx="20985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00"/>
              <a:buFont typeface="Calibri"/>
              <a:buNone/>
            </a:pPr>
            <a:r>
              <a:rPr b="1" i="0" lang="ca" sz="3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140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8"/>
          <p:cNvSpPr txBox="1"/>
          <p:nvPr/>
        </p:nvSpPr>
        <p:spPr>
          <a:xfrm>
            <a:off x="3552444" y="2558034"/>
            <a:ext cx="20985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C6CF"/>
              </a:buClr>
              <a:buSzPts val="1100"/>
              <a:buFont typeface="Calibri"/>
              <a:buNone/>
            </a:pPr>
            <a:r>
              <a:rPr b="1" i="0" lang="ca" sz="1100" u="none" cap="none" strike="noStrike">
                <a:solidFill>
                  <a:srgbClr val="C6C6CF"/>
                </a:solidFill>
                <a:latin typeface="Calibri"/>
                <a:ea typeface="Calibri"/>
                <a:cs typeface="Calibri"/>
                <a:sym typeface="Calibri"/>
              </a:rPr>
              <a:t>colors diferents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8"/>
          <p:cNvSpPr txBox="1"/>
          <p:nvPr/>
        </p:nvSpPr>
        <p:spPr>
          <a:xfrm>
            <a:off x="3552444" y="2777490"/>
            <a:ext cx="20985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7E88"/>
              </a:buClr>
              <a:buSzPts val="800"/>
              <a:buFont typeface="Courier New"/>
              <a:buNone/>
            </a:pPr>
            <a:r>
              <a:rPr b="0" i="0" lang="ca" sz="800" u="none" cap="none" strike="noStrike">
                <a:solidFill>
                  <a:srgbClr val="7E7E88"/>
                </a:solidFill>
                <a:latin typeface="Courier New"/>
                <a:ea typeface="Courier New"/>
                <a:cs typeface="Courier New"/>
                <a:sym typeface="Courier New"/>
              </a:rPr>
              <a:t>especificació CSS3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8"/>
          <p:cNvSpPr/>
          <p:nvPr/>
        </p:nvSpPr>
        <p:spPr>
          <a:xfrm>
            <a:off x="6076188" y="1405890"/>
            <a:ext cx="2647200" cy="1748700"/>
          </a:xfrm>
          <a:prstGeom prst="roundRect">
            <a:avLst>
              <a:gd fmla="val 3922" name="adj"/>
            </a:avLst>
          </a:prstGeom>
          <a:solidFill>
            <a:srgbClr val="23232B"/>
          </a:solidFill>
          <a:ln cap="flat" cmpd="sng" w="9525">
            <a:solidFill>
              <a:srgbClr val="3A3A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8"/>
          <p:cNvSpPr/>
          <p:nvPr/>
        </p:nvSpPr>
        <p:spPr>
          <a:xfrm>
            <a:off x="6384798" y="1714500"/>
            <a:ext cx="342900" cy="9600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8"/>
          <p:cNvSpPr txBox="1"/>
          <p:nvPr/>
        </p:nvSpPr>
        <p:spPr>
          <a:xfrm>
            <a:off x="6350508" y="1831086"/>
            <a:ext cx="20985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00"/>
              <a:buFont typeface="Calibri"/>
              <a:buNone/>
            </a:pPr>
            <a:r>
              <a:rPr b="1" i="0" lang="ca" sz="3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147–148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8"/>
          <p:cNvSpPr txBox="1"/>
          <p:nvPr/>
        </p:nvSpPr>
        <p:spPr>
          <a:xfrm>
            <a:off x="6384798" y="2558034"/>
            <a:ext cx="20985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C6CF"/>
              </a:buClr>
              <a:buSzPts val="1100"/>
              <a:buFont typeface="Calibri"/>
              <a:buNone/>
            </a:pPr>
            <a:r>
              <a:rPr b="1" i="0" lang="ca" sz="1100" u="none" cap="none" strike="noStrike">
                <a:solidFill>
                  <a:srgbClr val="C6C6CF"/>
                </a:solidFill>
                <a:latin typeface="Calibri"/>
                <a:ea typeface="Calibri"/>
                <a:cs typeface="Calibri"/>
                <a:sym typeface="Calibri"/>
              </a:rPr>
              <a:t>amb sinònims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8"/>
          <p:cNvSpPr txBox="1"/>
          <p:nvPr/>
        </p:nvSpPr>
        <p:spPr>
          <a:xfrm>
            <a:off x="6384798" y="2777490"/>
            <a:ext cx="20985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7E88"/>
              </a:buClr>
              <a:buSzPts val="800"/>
              <a:buFont typeface="Courier New"/>
              <a:buNone/>
            </a:pPr>
            <a:r>
              <a:rPr b="0" i="0" lang="ca" sz="800" u="none" cap="none" strike="noStrike">
                <a:solidFill>
                  <a:srgbClr val="7E7E88"/>
                </a:solidFill>
                <a:latin typeface="Courier New"/>
                <a:ea typeface="Courier New"/>
                <a:cs typeface="Courier New"/>
                <a:sym typeface="Courier New"/>
              </a:rPr>
              <a:t>CSS Color Level 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8"/>
          <p:cNvSpPr txBox="1"/>
          <p:nvPr/>
        </p:nvSpPr>
        <p:spPr>
          <a:xfrm>
            <a:off x="8606790" y="4786884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5555F"/>
              </a:buClr>
              <a:buSzPts val="800"/>
              <a:buFont typeface="Courier New"/>
              <a:buNone/>
            </a:pPr>
            <a:r>
              <a:rPr b="0" i="0" lang="ca" sz="800" u="none" cap="none" strike="noStrike">
                <a:solidFill>
                  <a:srgbClr val="55555F"/>
                </a:solidFill>
                <a:latin typeface="Courier New"/>
                <a:ea typeface="Courier New"/>
                <a:cs typeface="Courier New"/>
                <a:sym typeface="Courier New"/>
              </a:rPr>
              <a:t>04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7171C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9"/>
          <p:cNvSpPr txBox="1"/>
          <p:nvPr/>
        </p:nvSpPr>
        <p:spPr>
          <a:xfrm>
            <a:off x="411480" y="342900"/>
            <a:ext cx="83187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8E9A"/>
              </a:buClr>
              <a:buSzPts val="900"/>
              <a:buFont typeface="Calibri"/>
              <a:buNone/>
            </a:pPr>
            <a:r>
              <a:rPr b="1" i="0" lang="ca" sz="900" u="none" cap="none" strike="noStrike">
                <a:solidFill>
                  <a:srgbClr val="8E8E9A"/>
                </a:solidFill>
                <a:latin typeface="Calibri"/>
                <a:ea typeface="Calibri"/>
                <a:cs typeface="Calibri"/>
                <a:sym typeface="Calibri"/>
              </a:rPr>
              <a:t>A LA PRÀCTICA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9"/>
          <p:cNvSpPr txBox="1"/>
          <p:nvPr/>
        </p:nvSpPr>
        <p:spPr>
          <a:xfrm>
            <a:off x="411480" y="548640"/>
            <a:ext cx="83187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ca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 es fan servir?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9"/>
          <p:cNvSpPr/>
          <p:nvPr/>
        </p:nvSpPr>
        <p:spPr>
          <a:xfrm>
            <a:off x="411480" y="1440180"/>
            <a:ext cx="4149000" cy="2880600"/>
          </a:xfrm>
          <a:prstGeom prst="roundRect">
            <a:avLst>
              <a:gd fmla="val 2381" name="adj"/>
            </a:avLst>
          </a:prstGeom>
          <a:solidFill>
            <a:srgbClr val="1B1B21"/>
          </a:solidFill>
          <a:ln cap="flat" cmpd="sng" w="9525">
            <a:solidFill>
              <a:srgbClr val="3A3A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9"/>
          <p:cNvSpPr/>
          <p:nvPr/>
        </p:nvSpPr>
        <p:spPr>
          <a:xfrm>
            <a:off x="651510" y="1659636"/>
            <a:ext cx="109800" cy="109800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9"/>
          <p:cNvSpPr/>
          <p:nvPr/>
        </p:nvSpPr>
        <p:spPr>
          <a:xfrm>
            <a:off x="843534" y="1659636"/>
            <a:ext cx="109800" cy="109800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9"/>
          <p:cNvSpPr/>
          <p:nvPr/>
        </p:nvSpPr>
        <p:spPr>
          <a:xfrm>
            <a:off x="1035558" y="1659636"/>
            <a:ext cx="109800" cy="109800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9"/>
          <p:cNvSpPr txBox="1"/>
          <p:nvPr/>
        </p:nvSpPr>
        <p:spPr>
          <a:xfrm>
            <a:off x="1440180" y="1591056"/>
            <a:ext cx="2057400" cy="23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7E88"/>
              </a:buClr>
              <a:buSzPts val="800"/>
              <a:buFont typeface="Courier New"/>
              <a:buNone/>
            </a:pPr>
            <a:r>
              <a:rPr b="0" i="0" lang="ca" sz="800" u="none" cap="none" strike="noStrike">
                <a:solidFill>
                  <a:srgbClr val="7E7E88"/>
                </a:solidFill>
                <a:latin typeface="Courier New"/>
                <a:ea typeface="Courier New"/>
                <a:cs typeface="Courier New"/>
                <a:sym typeface="Courier New"/>
              </a:rPr>
              <a:t>estil.css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9"/>
          <p:cNvSpPr txBox="1"/>
          <p:nvPr/>
        </p:nvSpPr>
        <p:spPr>
          <a:xfrm>
            <a:off x="754380" y="2091690"/>
            <a:ext cx="35319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C6CF"/>
              </a:buClr>
              <a:buSzPts val="1200"/>
              <a:buFont typeface="Courier New"/>
              <a:buNone/>
            </a:pPr>
            <a:r>
              <a:rPr b="0" i="0" lang="ca" sz="1200" u="none" cap="none" strike="noStrike">
                <a:solidFill>
                  <a:srgbClr val="C6C6CF"/>
                </a:solidFill>
                <a:latin typeface="Courier New"/>
                <a:ea typeface="Courier New"/>
                <a:cs typeface="Courier New"/>
                <a:sym typeface="Courier New"/>
              </a:rPr>
              <a:t>h1 { color: </a:t>
            </a:r>
            <a:r>
              <a:rPr b="0" i="0" lang="ca" sz="1200" u="none" cap="none" strike="noStrike">
                <a:solidFill>
                  <a:srgbClr val="F0607A"/>
                </a:solidFill>
                <a:latin typeface="Courier New"/>
                <a:ea typeface="Courier New"/>
                <a:cs typeface="Courier New"/>
                <a:sym typeface="Courier New"/>
              </a:rPr>
              <a:t>crimson</a:t>
            </a:r>
            <a:r>
              <a:rPr b="0" i="0" lang="ca" sz="1200" u="none" cap="none" strike="noStrike">
                <a:solidFill>
                  <a:srgbClr val="C6C6CF"/>
                </a:solidFill>
                <a:latin typeface="Courier New"/>
                <a:ea typeface="Courier New"/>
                <a:cs typeface="Courier New"/>
                <a:sym typeface="Courier New"/>
              </a:rPr>
              <a:t>; }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9"/>
          <p:cNvSpPr txBox="1"/>
          <p:nvPr/>
        </p:nvSpPr>
        <p:spPr>
          <a:xfrm>
            <a:off x="754380" y="2585466"/>
            <a:ext cx="35319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C6CF"/>
              </a:buClr>
              <a:buSzPts val="1200"/>
              <a:buFont typeface="Courier New"/>
              <a:buNone/>
            </a:pPr>
            <a:r>
              <a:rPr b="0" i="0" lang="ca" sz="1200" u="none" cap="none" strike="noStrike">
                <a:solidFill>
                  <a:srgbClr val="C6C6CF"/>
                </a:solidFill>
                <a:latin typeface="Courier New"/>
                <a:ea typeface="Courier New"/>
                <a:cs typeface="Courier New"/>
                <a:sym typeface="Courier New"/>
              </a:rPr>
              <a:t>body { background: </a:t>
            </a:r>
            <a:r>
              <a:rPr b="0" i="0" lang="ca" sz="1200" u="none" cap="none" strike="noStrike">
                <a:solidFill>
                  <a:srgbClr val="EDEDD0"/>
                </a:solidFill>
                <a:latin typeface="Courier New"/>
                <a:ea typeface="Courier New"/>
                <a:cs typeface="Courier New"/>
                <a:sym typeface="Courier New"/>
              </a:rPr>
              <a:t>ivory</a:t>
            </a:r>
            <a:r>
              <a:rPr b="0" i="0" lang="ca" sz="1200" u="none" cap="none" strike="noStrike">
                <a:solidFill>
                  <a:srgbClr val="C6C6CF"/>
                </a:solidFill>
                <a:latin typeface="Courier New"/>
                <a:ea typeface="Courier New"/>
                <a:cs typeface="Courier New"/>
                <a:sym typeface="Courier New"/>
              </a:rPr>
              <a:t>; }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9"/>
          <p:cNvSpPr txBox="1"/>
          <p:nvPr/>
        </p:nvSpPr>
        <p:spPr>
          <a:xfrm>
            <a:off x="754380" y="3079242"/>
            <a:ext cx="35319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C6CF"/>
              </a:buClr>
              <a:buSzPts val="1200"/>
              <a:buFont typeface="Courier New"/>
              <a:buNone/>
            </a:pPr>
            <a:r>
              <a:rPr b="0" i="0" lang="ca" sz="1200" u="none" cap="none" strike="noStrike">
                <a:solidFill>
                  <a:srgbClr val="C6C6CF"/>
                </a:solidFill>
                <a:latin typeface="Courier New"/>
                <a:ea typeface="Courier New"/>
                <a:cs typeface="Courier New"/>
                <a:sym typeface="Courier New"/>
              </a:rPr>
              <a:t>.btn { background: </a:t>
            </a:r>
            <a:r>
              <a:rPr b="0" i="0" lang="ca" sz="1200" u="none" cap="none" strike="noStrike">
                <a:solidFill>
                  <a:srgbClr val="33B0B0"/>
                </a:solidFill>
                <a:latin typeface="Courier New"/>
                <a:ea typeface="Courier New"/>
                <a:cs typeface="Courier New"/>
                <a:sym typeface="Courier New"/>
              </a:rPr>
              <a:t>teal</a:t>
            </a:r>
            <a:r>
              <a:rPr b="0" i="0" lang="ca" sz="1200" u="none" cap="none" strike="noStrike">
                <a:solidFill>
                  <a:srgbClr val="C6C6CF"/>
                </a:solidFill>
                <a:latin typeface="Courier New"/>
                <a:ea typeface="Courier New"/>
                <a:cs typeface="Courier New"/>
                <a:sym typeface="Courier New"/>
              </a:rPr>
              <a:t>; }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9"/>
          <p:cNvSpPr txBox="1"/>
          <p:nvPr/>
        </p:nvSpPr>
        <p:spPr>
          <a:xfrm>
            <a:off x="754380" y="3573018"/>
            <a:ext cx="35319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6C6CF"/>
              </a:buClr>
              <a:buSzPts val="1200"/>
              <a:buFont typeface="Courier New"/>
              <a:buNone/>
            </a:pPr>
            <a:r>
              <a:rPr b="0" i="0" lang="ca" sz="1200" u="none" cap="none" strike="noStrike">
                <a:solidFill>
                  <a:srgbClr val="C6C6CF"/>
                </a:solidFill>
                <a:latin typeface="Courier New"/>
                <a:ea typeface="Courier New"/>
                <a:cs typeface="Courier New"/>
                <a:sym typeface="Courier New"/>
              </a:rPr>
              <a:t>a:hover { color: </a:t>
            </a:r>
            <a:r>
              <a:rPr b="0" i="0" lang="ca" sz="1200" u="none" cap="none" strike="noStrike">
                <a:solidFill>
                  <a:srgbClr val="5AA9FF"/>
                </a:solidFill>
                <a:latin typeface="Courier New"/>
                <a:ea typeface="Courier New"/>
                <a:cs typeface="Courier New"/>
                <a:sym typeface="Courier New"/>
              </a:rPr>
              <a:t>dodgerblue</a:t>
            </a:r>
            <a:r>
              <a:rPr b="0" i="0" lang="ca" sz="1200" u="none" cap="none" strike="noStrike">
                <a:solidFill>
                  <a:srgbClr val="C6C6CF"/>
                </a:solidFill>
                <a:latin typeface="Courier New"/>
                <a:ea typeface="Courier New"/>
                <a:cs typeface="Courier New"/>
                <a:sym typeface="Courier New"/>
              </a:rPr>
              <a:t>; }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/>
          <p:cNvSpPr txBox="1"/>
          <p:nvPr/>
        </p:nvSpPr>
        <p:spPr>
          <a:xfrm>
            <a:off x="4834890" y="1440180"/>
            <a:ext cx="3895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ca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…o busca’l directament a Google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9"/>
          <p:cNvSpPr/>
          <p:nvPr/>
        </p:nvSpPr>
        <p:spPr>
          <a:xfrm>
            <a:off x="4834890" y="1817370"/>
            <a:ext cx="3895500" cy="4251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9525">
            <a:solidFill>
              <a:srgbClr val="D8D8D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8575">
              <a:srgbClr val="000000">
                <a:alpha val="4000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9"/>
          <p:cNvSpPr/>
          <p:nvPr/>
        </p:nvSpPr>
        <p:spPr>
          <a:xfrm>
            <a:off x="5026914" y="1944243"/>
            <a:ext cx="150900" cy="150900"/>
          </a:xfrm>
          <a:prstGeom prst="ellipse">
            <a:avLst/>
          </a:prstGeom>
          <a:solidFill>
            <a:srgbClr val="FFFFFF"/>
          </a:solidFill>
          <a:ln cap="flat" cmpd="sng" w="14300">
            <a:solidFill>
              <a:srgbClr val="6A6A7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2" name="Google Shape;152;p19"/>
          <p:cNvCxnSpPr/>
          <p:nvPr/>
        </p:nvCxnSpPr>
        <p:spPr>
          <a:xfrm>
            <a:off x="5157216" y="2071116"/>
            <a:ext cx="75300" cy="75300"/>
          </a:xfrm>
          <a:prstGeom prst="straightConnector1">
            <a:avLst/>
          </a:prstGeom>
          <a:noFill/>
          <a:ln cap="flat" cmpd="sng" w="14300">
            <a:solidFill>
              <a:srgbClr val="6A6A7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3" name="Google Shape;153;p19"/>
          <p:cNvSpPr txBox="1"/>
          <p:nvPr/>
        </p:nvSpPr>
        <p:spPr>
          <a:xfrm>
            <a:off x="5287518" y="1817370"/>
            <a:ext cx="29010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A40"/>
              </a:buClr>
              <a:buSzPts val="1200"/>
              <a:buFont typeface="Calibri"/>
              <a:buNone/>
            </a:pPr>
            <a:r>
              <a:rPr b="0" i="0" lang="ca" sz="1200" u="none" cap="none" strike="noStrike">
                <a:solidFill>
                  <a:srgbClr val="3A3A40"/>
                </a:solidFill>
                <a:latin typeface="Calibri"/>
                <a:ea typeface="Calibri"/>
                <a:cs typeface="Calibri"/>
                <a:sym typeface="Calibri"/>
              </a:rPr>
              <a:t>teal color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9"/>
          <p:cNvSpPr/>
          <p:nvPr/>
        </p:nvSpPr>
        <p:spPr>
          <a:xfrm>
            <a:off x="8291322" y="1906524"/>
            <a:ext cx="253800" cy="253800"/>
          </a:xfrm>
          <a:prstGeom prst="roundRect">
            <a:avLst>
              <a:gd fmla="val 13514" name="adj"/>
            </a:avLst>
          </a:prstGeom>
          <a:solidFill>
            <a:srgbClr val="008080"/>
          </a:solidFill>
          <a:ln cap="flat" cmpd="sng" w="7150">
            <a:solidFill>
              <a:srgbClr val="D8D8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9"/>
          <p:cNvSpPr/>
          <p:nvPr/>
        </p:nvSpPr>
        <p:spPr>
          <a:xfrm>
            <a:off x="4834890" y="2571750"/>
            <a:ext cx="3895500" cy="1748700"/>
          </a:xfrm>
          <a:prstGeom prst="roundRect">
            <a:avLst>
              <a:gd fmla="val 3922" name="adj"/>
            </a:avLst>
          </a:prstGeom>
          <a:solidFill>
            <a:srgbClr val="23232B"/>
          </a:solidFill>
          <a:ln cap="flat" cmpd="sng" w="9525">
            <a:solidFill>
              <a:srgbClr val="3A3A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19"/>
          <p:cNvSpPr/>
          <p:nvPr/>
        </p:nvSpPr>
        <p:spPr>
          <a:xfrm>
            <a:off x="5109210" y="2846070"/>
            <a:ext cx="1200300" cy="1200300"/>
          </a:xfrm>
          <a:prstGeom prst="roundRect">
            <a:avLst>
              <a:gd fmla="val 4571" name="adj"/>
            </a:avLst>
          </a:prstGeom>
          <a:solidFill>
            <a:srgbClr val="008080"/>
          </a:solidFill>
          <a:ln cap="flat" cmpd="sng" w="7150">
            <a:solidFill>
              <a:srgbClr val="3A3A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9"/>
          <p:cNvSpPr txBox="1"/>
          <p:nvPr/>
        </p:nvSpPr>
        <p:spPr>
          <a:xfrm>
            <a:off x="6515100" y="2880360"/>
            <a:ext cx="19887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ca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teal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9"/>
          <p:cNvSpPr txBox="1"/>
          <p:nvPr/>
        </p:nvSpPr>
        <p:spPr>
          <a:xfrm>
            <a:off x="6515100" y="3257550"/>
            <a:ext cx="2023200" cy="89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7E7E88"/>
              </a:buClr>
              <a:buSzPts val="1000"/>
              <a:buFont typeface="Courier New"/>
              <a:buNone/>
            </a:pPr>
            <a:r>
              <a:rPr b="0" i="0" lang="ca" sz="1000" u="none" cap="none" strike="noStrike">
                <a:solidFill>
                  <a:srgbClr val="7E7E88"/>
                </a:solidFill>
                <a:latin typeface="Courier New"/>
                <a:ea typeface="Courier New"/>
                <a:cs typeface="Courier New"/>
                <a:sym typeface="Courier New"/>
              </a:rPr>
              <a:t>HEX   </a:t>
            </a:r>
            <a:r>
              <a:rPr b="0" i="0" lang="ca" sz="1000" u="none" cap="none" strike="noStrike">
                <a:solidFill>
                  <a:srgbClr val="C6C6CF"/>
                </a:solidFill>
                <a:latin typeface="Courier New"/>
                <a:ea typeface="Courier New"/>
                <a:cs typeface="Courier New"/>
                <a:sym typeface="Courier New"/>
              </a:rPr>
              <a:t>#008080</a:t>
            </a:r>
            <a:br>
              <a:rPr b="0" i="0" lang="ca" sz="1000" u="none" cap="none" strike="noStrike">
                <a:solidFill>
                  <a:srgbClr val="C6C6CF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ca" sz="1000" u="none" cap="none" strike="noStrike">
                <a:solidFill>
                  <a:srgbClr val="7E7E88"/>
                </a:solidFill>
                <a:latin typeface="Courier New"/>
                <a:ea typeface="Courier New"/>
                <a:cs typeface="Courier New"/>
                <a:sym typeface="Courier New"/>
              </a:rPr>
              <a:t>RGB   </a:t>
            </a:r>
            <a:r>
              <a:rPr b="0" i="0" lang="ca" sz="1000" u="none" cap="none" strike="noStrike">
                <a:solidFill>
                  <a:srgbClr val="C6C6CF"/>
                </a:solidFill>
                <a:latin typeface="Courier New"/>
                <a:ea typeface="Courier New"/>
                <a:cs typeface="Courier New"/>
                <a:sym typeface="Courier New"/>
              </a:rPr>
              <a:t>0, 128, 128</a:t>
            </a:r>
            <a:br>
              <a:rPr b="0" i="0" lang="ca" sz="1000" u="none" cap="none" strike="noStrike">
                <a:solidFill>
                  <a:srgbClr val="C6C6CF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ca" sz="1000" u="none" cap="none" strike="noStrike">
                <a:solidFill>
                  <a:srgbClr val="7E7E88"/>
                </a:solidFill>
                <a:latin typeface="Courier New"/>
                <a:ea typeface="Courier New"/>
                <a:cs typeface="Courier New"/>
                <a:sym typeface="Courier New"/>
              </a:rPr>
              <a:t>HSL   </a:t>
            </a:r>
            <a:r>
              <a:rPr b="0" i="0" lang="ca" sz="1000" u="none" cap="none" strike="noStrike">
                <a:solidFill>
                  <a:srgbClr val="C6C6CF"/>
                </a:solidFill>
                <a:latin typeface="Courier New"/>
                <a:ea typeface="Courier New"/>
                <a:cs typeface="Courier New"/>
                <a:sym typeface="Courier New"/>
              </a:rPr>
              <a:t>180°, 100%, 25%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9"/>
          <p:cNvSpPr txBox="1"/>
          <p:nvPr/>
        </p:nvSpPr>
        <p:spPr>
          <a:xfrm>
            <a:off x="8606790" y="4786884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5555F"/>
              </a:buClr>
              <a:buSzPts val="800"/>
              <a:buFont typeface="Courier New"/>
              <a:buNone/>
            </a:pPr>
            <a:r>
              <a:rPr b="0" i="0" lang="ca" sz="800" u="none" cap="none" strike="noStrike">
                <a:solidFill>
                  <a:srgbClr val="55555F"/>
                </a:solidFill>
                <a:latin typeface="Courier New"/>
                <a:ea typeface="Courier New"/>
                <a:cs typeface="Courier New"/>
                <a:sym typeface="Courier New"/>
              </a:rPr>
              <a:t>08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7171C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0"/>
          <p:cNvSpPr txBox="1"/>
          <p:nvPr/>
        </p:nvSpPr>
        <p:spPr>
          <a:xfrm>
            <a:off x="480310" y="363485"/>
            <a:ext cx="75438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8E9A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20"/>
          <p:cNvSpPr txBox="1"/>
          <p:nvPr/>
        </p:nvSpPr>
        <p:spPr>
          <a:xfrm>
            <a:off x="452628" y="1062990"/>
            <a:ext cx="78867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8E8E9A"/>
              </a:buClr>
              <a:buSzPts val="1400"/>
              <a:buFont typeface="Calibri"/>
              <a:buNone/>
            </a:pPr>
            <a:r>
              <a:t/>
            </a:r>
            <a:endParaRPr b="1" sz="4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8E8E9A"/>
              </a:buClr>
              <a:buSzPts val="1400"/>
              <a:buFont typeface="Calibri"/>
              <a:buNone/>
            </a:pPr>
            <a:r>
              <a:rPr b="1" lang="ca" sz="4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EN RESUM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1" sz="30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20"/>
          <p:cNvSpPr/>
          <p:nvPr/>
        </p:nvSpPr>
        <p:spPr>
          <a:xfrm>
            <a:off x="480060" y="1988820"/>
            <a:ext cx="342900" cy="342900"/>
          </a:xfrm>
          <a:prstGeom prst="roundRect">
            <a:avLst>
              <a:gd fmla="val 12000" name="adj"/>
            </a:avLst>
          </a:prstGeom>
          <a:solidFill>
            <a:srgbClr val="DC143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20"/>
          <p:cNvSpPr txBox="1"/>
          <p:nvPr/>
        </p:nvSpPr>
        <p:spPr>
          <a:xfrm>
            <a:off x="994410" y="1947672"/>
            <a:ext cx="76812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ca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Són paraules que representen colors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0"/>
          <p:cNvSpPr txBox="1"/>
          <p:nvPr/>
        </p:nvSpPr>
        <p:spPr>
          <a:xfrm>
            <a:off x="994410" y="2235708"/>
            <a:ext cx="7681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9AA6"/>
              </a:buClr>
              <a:buSzPts val="1100"/>
              <a:buFont typeface="Calibri"/>
              <a:buNone/>
            </a:pPr>
            <a:r>
              <a:rPr b="0" i="0" lang="ca" sz="1100" u="none" cap="none" strike="noStrike">
                <a:solidFill>
                  <a:srgbClr val="9A9AA6"/>
                </a:solidFill>
                <a:latin typeface="Calibri"/>
                <a:ea typeface="Calibri"/>
                <a:cs typeface="Calibri"/>
                <a:sym typeface="Calibri"/>
              </a:rPr>
              <a:t>Escrius el nom (crimson) i el navegador sap el to exacte.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20"/>
          <p:cNvSpPr/>
          <p:nvPr/>
        </p:nvSpPr>
        <p:spPr>
          <a:xfrm>
            <a:off x="480060" y="2660904"/>
            <a:ext cx="342900" cy="342900"/>
          </a:xfrm>
          <a:prstGeom prst="roundRect">
            <a:avLst>
              <a:gd fmla="val 12000" name="adj"/>
            </a:avLst>
          </a:prstGeom>
          <a:solidFill>
            <a:srgbClr val="FFD70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20"/>
          <p:cNvSpPr txBox="1"/>
          <p:nvPr/>
        </p:nvSpPr>
        <p:spPr>
          <a:xfrm>
            <a:off x="994410" y="2619756"/>
            <a:ext cx="76812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ca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 trobes ≈140 (147–148 amb sinònims)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20"/>
          <p:cNvSpPr txBox="1"/>
          <p:nvPr/>
        </p:nvSpPr>
        <p:spPr>
          <a:xfrm>
            <a:off x="994410" y="2907792"/>
            <a:ext cx="7681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9AA6"/>
              </a:buClr>
              <a:buSzPts val="1100"/>
              <a:buFont typeface="Calibri"/>
              <a:buNone/>
            </a:pPr>
            <a:r>
              <a:rPr b="0" i="0" lang="ca" sz="1100" u="none" cap="none" strike="noStrike">
                <a:solidFill>
                  <a:srgbClr val="9A9AA6"/>
                </a:solidFill>
                <a:latin typeface="Calibri"/>
                <a:ea typeface="Calibri"/>
                <a:cs typeface="Calibri"/>
                <a:sym typeface="Calibri"/>
              </a:rPr>
              <a:t>El “144” és una aproximació d’aquesta llista.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20"/>
          <p:cNvSpPr/>
          <p:nvPr/>
        </p:nvSpPr>
        <p:spPr>
          <a:xfrm>
            <a:off x="480060" y="3332988"/>
            <a:ext cx="342900" cy="342900"/>
          </a:xfrm>
          <a:prstGeom prst="roundRect">
            <a:avLst>
              <a:gd fmla="val 12000" name="adj"/>
            </a:avLst>
          </a:prstGeom>
          <a:solidFill>
            <a:srgbClr val="32CD3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20"/>
          <p:cNvSpPr txBox="1"/>
          <p:nvPr/>
        </p:nvSpPr>
        <p:spPr>
          <a:xfrm>
            <a:off x="994410" y="3291840"/>
            <a:ext cx="76812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ca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Venen del VGA (16) i del joc X11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994410" y="3579876"/>
            <a:ext cx="7681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9AA6"/>
              </a:buClr>
              <a:buSzPts val="1100"/>
              <a:buFont typeface="Calibri"/>
              <a:buNone/>
            </a:pPr>
            <a:r>
              <a:rPr b="0" i="0" lang="ca" sz="1100" u="none" cap="none" strike="noStrike">
                <a:solidFill>
                  <a:srgbClr val="9A9AA6"/>
                </a:solidFill>
                <a:latin typeface="Calibri"/>
                <a:ea typeface="Calibri"/>
                <a:cs typeface="Calibri"/>
                <a:sym typeface="Calibri"/>
              </a:rPr>
              <a:t>Recollits i estandarditzats per CSS.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0"/>
          <p:cNvSpPr/>
          <p:nvPr/>
        </p:nvSpPr>
        <p:spPr>
          <a:xfrm>
            <a:off x="480060" y="4005072"/>
            <a:ext cx="342900" cy="342900"/>
          </a:xfrm>
          <a:prstGeom prst="roundRect">
            <a:avLst>
              <a:gd fmla="val 12000" name="adj"/>
            </a:avLst>
          </a:prstGeom>
          <a:solidFill>
            <a:srgbClr val="1E90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20"/>
          <p:cNvSpPr txBox="1"/>
          <p:nvPr/>
        </p:nvSpPr>
        <p:spPr>
          <a:xfrm>
            <a:off x="994410" y="3963924"/>
            <a:ext cx="76812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ca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Còmodes però limitats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994410" y="4251960"/>
            <a:ext cx="7681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A9AA6"/>
              </a:buClr>
              <a:buSzPts val="1100"/>
              <a:buFont typeface="Calibri"/>
              <a:buNone/>
            </a:pPr>
            <a:r>
              <a:rPr b="0" i="0" lang="ca" sz="1100" u="none" cap="none" strike="noStrike">
                <a:solidFill>
                  <a:srgbClr val="9A9AA6"/>
                </a:solidFill>
                <a:latin typeface="Calibri"/>
                <a:ea typeface="Calibri"/>
                <a:cs typeface="Calibri"/>
                <a:sym typeface="Calibri"/>
              </a:rPr>
              <a:t>Per anar més enllà: Hex/RGB, amb 16,7 milions de tons.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0"/>
          <p:cNvSpPr/>
          <p:nvPr/>
        </p:nvSpPr>
        <p:spPr>
          <a:xfrm>
            <a:off x="0" y="4834890"/>
            <a:ext cx="666900" cy="308700"/>
          </a:xfrm>
          <a:prstGeom prst="rect">
            <a:avLst/>
          </a:prstGeom>
          <a:solidFill>
            <a:srgbClr val="DC143C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20"/>
          <p:cNvSpPr/>
          <p:nvPr/>
        </p:nvSpPr>
        <p:spPr>
          <a:xfrm>
            <a:off x="653126" y="4834890"/>
            <a:ext cx="666900" cy="308700"/>
          </a:xfrm>
          <a:prstGeom prst="rect">
            <a:avLst/>
          </a:prstGeom>
          <a:solidFill>
            <a:srgbClr val="FF6347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20"/>
          <p:cNvSpPr/>
          <p:nvPr/>
        </p:nvSpPr>
        <p:spPr>
          <a:xfrm>
            <a:off x="1306253" y="4834890"/>
            <a:ext cx="666900" cy="3087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20"/>
          <p:cNvSpPr/>
          <p:nvPr/>
        </p:nvSpPr>
        <p:spPr>
          <a:xfrm>
            <a:off x="1959380" y="4834890"/>
            <a:ext cx="666900" cy="3087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20"/>
          <p:cNvSpPr/>
          <p:nvPr/>
        </p:nvSpPr>
        <p:spPr>
          <a:xfrm>
            <a:off x="2612506" y="4834890"/>
            <a:ext cx="666900" cy="3087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20"/>
          <p:cNvSpPr/>
          <p:nvPr/>
        </p:nvSpPr>
        <p:spPr>
          <a:xfrm>
            <a:off x="3265633" y="4834890"/>
            <a:ext cx="666900" cy="308700"/>
          </a:xfrm>
          <a:prstGeom prst="rect">
            <a:avLst/>
          </a:prstGeom>
          <a:solidFill>
            <a:srgbClr val="7FFF0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20"/>
          <p:cNvSpPr/>
          <p:nvPr/>
        </p:nvSpPr>
        <p:spPr>
          <a:xfrm>
            <a:off x="3918759" y="4834890"/>
            <a:ext cx="666900" cy="308700"/>
          </a:xfrm>
          <a:prstGeom prst="rect">
            <a:avLst/>
          </a:prstGeom>
          <a:solidFill>
            <a:srgbClr val="32CD3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20"/>
          <p:cNvSpPr/>
          <p:nvPr/>
        </p:nvSpPr>
        <p:spPr>
          <a:xfrm>
            <a:off x="4571886" y="4834890"/>
            <a:ext cx="666900" cy="3087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20"/>
          <p:cNvSpPr/>
          <p:nvPr/>
        </p:nvSpPr>
        <p:spPr>
          <a:xfrm>
            <a:off x="5225012" y="4834890"/>
            <a:ext cx="666900" cy="308700"/>
          </a:xfrm>
          <a:prstGeom prst="rect">
            <a:avLst/>
          </a:prstGeom>
          <a:solidFill>
            <a:srgbClr val="1E90FF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20"/>
          <p:cNvSpPr/>
          <p:nvPr/>
        </p:nvSpPr>
        <p:spPr>
          <a:xfrm>
            <a:off x="5878139" y="4834890"/>
            <a:ext cx="666900" cy="308700"/>
          </a:xfrm>
          <a:prstGeom prst="rect">
            <a:avLst/>
          </a:prstGeom>
          <a:solidFill>
            <a:srgbClr val="4169E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20"/>
          <p:cNvSpPr/>
          <p:nvPr/>
        </p:nvSpPr>
        <p:spPr>
          <a:xfrm>
            <a:off x="6531266" y="4834890"/>
            <a:ext cx="666900" cy="308700"/>
          </a:xfrm>
          <a:prstGeom prst="rect">
            <a:avLst/>
          </a:prstGeom>
          <a:solidFill>
            <a:srgbClr val="4B00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20"/>
          <p:cNvSpPr/>
          <p:nvPr/>
        </p:nvSpPr>
        <p:spPr>
          <a:xfrm>
            <a:off x="7184392" y="4834890"/>
            <a:ext cx="666900" cy="308700"/>
          </a:xfrm>
          <a:prstGeom prst="rect">
            <a:avLst/>
          </a:prstGeom>
          <a:solidFill>
            <a:srgbClr val="663399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20"/>
          <p:cNvSpPr/>
          <p:nvPr/>
        </p:nvSpPr>
        <p:spPr>
          <a:xfrm>
            <a:off x="7837518" y="4834890"/>
            <a:ext cx="666900" cy="308700"/>
          </a:xfrm>
          <a:prstGeom prst="rect">
            <a:avLst/>
          </a:prstGeom>
          <a:solidFill>
            <a:srgbClr val="DA70D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20"/>
          <p:cNvSpPr/>
          <p:nvPr/>
        </p:nvSpPr>
        <p:spPr>
          <a:xfrm>
            <a:off x="8490645" y="4834890"/>
            <a:ext cx="666900" cy="308700"/>
          </a:xfrm>
          <a:prstGeom prst="rect">
            <a:avLst/>
          </a:prstGeom>
          <a:solidFill>
            <a:srgbClr val="FF69B4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7171C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BONS DISSENYS                                           </a:t>
            </a:r>
            <a:r>
              <a:rPr lang="ca"/>
              <a:t>Apple </a:t>
            </a:r>
            <a:endParaRPr/>
          </a:p>
        </p:txBody>
      </p:sp>
      <p:sp>
        <p:nvSpPr>
          <p:cNvPr id="198" name="Google Shape;198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>
                <a:solidFill>
                  <a:schemeClr val="dk1"/>
                </a:solidFill>
              </a:rPr>
              <a:t>https://www.apple.com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ca">
                <a:solidFill>
                  <a:schemeClr val="dk1"/>
                </a:solidFill>
              </a:rPr>
              <a:t>Disseny net i minimalista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ca">
                <a:solidFill>
                  <a:schemeClr val="dk1"/>
                </a:solidFill>
              </a:rPr>
              <a:t>Jerarquia visual clara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ca">
                <a:solidFill>
                  <a:schemeClr val="dk1"/>
                </a:solidFill>
              </a:rPr>
              <a:t>Fotos d’alta qualitat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ca">
                <a:solidFill>
                  <a:schemeClr val="dk1"/>
                </a:solidFill>
              </a:rPr>
              <a:t>Navegació simple i intuïtiva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ca">
                <a:solidFill>
                  <a:schemeClr val="dk1"/>
                </a:solidFill>
              </a:rPr>
              <a:t>Molt bon ús de l’espai en blanc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99" name="Google Shape;19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78750" y="1327662"/>
            <a:ext cx="5129825" cy="3066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7171C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667"/>
              <a:buFont typeface="Arial"/>
              <a:buNone/>
            </a:pPr>
            <a:r>
              <a:rPr lang="ca"/>
              <a:t>BONS DISSENYS                                            Airbnb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>
                <a:solidFill>
                  <a:schemeClr val="dk1"/>
                </a:solidFill>
              </a:rPr>
              <a:t>https://www.airbnb.com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ca">
                <a:solidFill>
                  <a:schemeClr val="dk1"/>
                </a:solidFill>
              </a:rPr>
              <a:t>Experiència d’usuari fluida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ca">
                <a:solidFill>
                  <a:schemeClr val="dk1"/>
                </a:solidFill>
              </a:rPr>
              <a:t>Buscador central molt accessible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ca">
                <a:solidFill>
                  <a:schemeClr val="dk1"/>
                </a:solidFill>
              </a:rPr>
              <a:t>Tipografia clara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ca">
                <a:solidFill>
                  <a:schemeClr val="dk1"/>
                </a:solidFill>
              </a:rPr>
              <a:t>Colors coherents i agradables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ca">
                <a:solidFill>
                  <a:schemeClr val="dk1"/>
                </a:solidFill>
              </a:rPr>
              <a:t>Informació ben organitzada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06" name="Google Shape;20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53025" y="1185700"/>
            <a:ext cx="5017501" cy="3212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7171C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667"/>
              <a:buFont typeface="Arial"/>
              <a:buNone/>
            </a:pPr>
            <a:r>
              <a:rPr lang="ca"/>
              <a:t>BONS DISSENYS                                         Dropbox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>
                <a:solidFill>
                  <a:schemeClr val="dk1"/>
                </a:solidFill>
              </a:rPr>
              <a:t>https://www.dropbox.com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ca">
                <a:solidFill>
                  <a:schemeClr val="dk1"/>
                </a:solidFill>
              </a:rPr>
              <a:t>Missatge clar des del primer segon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ca">
                <a:solidFill>
                  <a:schemeClr val="dk1"/>
                </a:solidFill>
              </a:rPr>
              <a:t>Il·lustracions simples i modernes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ca">
                <a:solidFill>
                  <a:schemeClr val="dk1"/>
                </a:solidFill>
              </a:rPr>
              <a:t>Disseny responsive impecable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ca">
                <a:solidFill>
                  <a:schemeClr val="dk1"/>
                </a:solidFill>
              </a:rPr>
              <a:t>Crides a l’acció visibles i directes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13" name="Google Shape;21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57725" y="1217750"/>
            <a:ext cx="4747825" cy="3025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7171C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/>
              <a:t>MALS DISSENYS                                        Ling’s Cars </a:t>
            </a:r>
            <a:endParaRPr/>
          </a:p>
        </p:txBody>
      </p:sp>
      <p:sp>
        <p:nvSpPr>
          <p:cNvPr id="219" name="Google Shape;219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>
                <a:solidFill>
                  <a:schemeClr val="dk1"/>
                </a:solidFill>
              </a:rPr>
              <a:t>https://www.lingscars.com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ca">
                <a:solidFill>
                  <a:schemeClr val="dk1"/>
                </a:solidFill>
              </a:rPr>
              <a:t>Massa colors i animacions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ca">
                <a:solidFill>
                  <a:schemeClr val="dk1"/>
                </a:solidFill>
              </a:rPr>
              <a:t>Soroll visual extrem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ca">
                <a:solidFill>
                  <a:schemeClr val="dk1"/>
                </a:solidFill>
              </a:rPr>
              <a:t>Dificultat per trobar informació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ca">
                <a:solidFill>
                  <a:schemeClr val="dk1"/>
                </a:solidFill>
              </a:rPr>
              <a:t>Distracció constant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20" name="Google Shape;22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24125" y="1063350"/>
            <a:ext cx="5150176" cy="3370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7171C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667"/>
              <a:buFont typeface="Arial"/>
              <a:buNone/>
            </a:pPr>
            <a:r>
              <a:rPr lang="ca"/>
              <a:t>MALS DISSENYS                                Yale School of Art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>
                <a:solidFill>
                  <a:schemeClr val="dk1"/>
                </a:solidFill>
              </a:rPr>
              <a:t>https://www.art.yale.edu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ca">
                <a:solidFill>
                  <a:schemeClr val="dk1"/>
                </a:solidFill>
              </a:rPr>
              <a:t>Disseny caòtic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ca">
                <a:solidFill>
                  <a:schemeClr val="dk1"/>
                </a:solidFill>
              </a:rPr>
              <a:t>Tipografies inconsistents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ca">
                <a:solidFill>
                  <a:schemeClr val="dk1"/>
                </a:solidFill>
              </a:rPr>
              <a:t>Navegació confusa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ca">
                <a:solidFill>
                  <a:schemeClr val="dk1"/>
                </a:solidFill>
              </a:rPr>
              <a:t>Falta de jerarquia visual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27" name="Google Shape;227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64888" y="1127575"/>
            <a:ext cx="5379084" cy="3466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7171C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667"/>
              <a:buFont typeface="Arial"/>
              <a:buNone/>
            </a:pPr>
            <a:r>
              <a:rPr lang="ca"/>
              <a:t>MALS DISSENYS                                          Arngren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">
                <a:solidFill>
                  <a:schemeClr val="dk1"/>
                </a:solidFill>
              </a:rPr>
              <a:t>https://www.arngren.net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ca">
                <a:solidFill>
                  <a:schemeClr val="dk1"/>
                </a:solidFill>
              </a:rPr>
              <a:t>Tot amuntegat sense ordre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ca">
                <a:solidFill>
                  <a:schemeClr val="dk1"/>
                </a:solidFill>
              </a:rPr>
              <a:t>Imatges petites i de baixa qualitat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ca">
                <a:solidFill>
                  <a:schemeClr val="dk1"/>
                </a:solidFill>
              </a:rPr>
              <a:t>Zero espai en blanc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ca">
                <a:solidFill>
                  <a:schemeClr val="dk1"/>
                </a:solidFill>
              </a:rPr>
              <a:t>Navegació pràcticament inexistent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34" name="Google Shape;23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78300" y="1276737"/>
            <a:ext cx="4908876" cy="3167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